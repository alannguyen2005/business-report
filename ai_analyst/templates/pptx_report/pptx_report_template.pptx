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5"/>
    <p:sldId id="269" r:id="rId4"/>
    <p:sldId id="270" r:id="rId3"/>
    <p:sldId id="271" r:id="rId2"/>
    <p:sldId id="272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4E7"/>
    <a:srgbClr val="42967A"/>
    <a:srgbClr val="EF4444"/>
    <a:srgbClr val="F973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34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>
                <a:latin typeface="Calibri Light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  <a:p>
            <a:pPr lvl="1">
              <a:defRPr/>
            </a:pPr>
            <a:r>
              <a:rPr lang="en-US">
                <a:latin typeface="Calibri Light"/>
              </a:rPr>
              <a:t>Second level</a:t>
            </a:r>
          </a:p>
          <a:p>
            <a:pPr lvl="2">
              <a:defRPr/>
            </a:pPr>
            <a:r>
              <a:rPr lang="en-US">
                <a:latin typeface="Calibri Light"/>
              </a:rPr>
              <a:t>Third level</a:t>
            </a:r>
          </a:p>
          <a:p>
            <a:pPr lvl="3">
              <a:defRPr/>
            </a:pPr>
            <a:r>
              <a:rPr lang="en-US">
                <a:latin typeface="Calibri Light"/>
              </a:rPr>
              <a:t>Fourth level</a:t>
            </a:r>
          </a:p>
          <a:p>
            <a:pPr lvl="4">
              <a:defRPr/>
            </a:pPr>
            <a:r>
              <a:rPr lang="en-US">
                <a:latin typeface="Calibri Light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  <a:p>
            <a:pPr lvl="1">
              <a:defRPr/>
            </a:pPr>
            <a:r>
              <a:rPr lang="en-US">
                <a:latin typeface="Calibri Light"/>
              </a:rPr>
              <a:t>Second level</a:t>
            </a:r>
          </a:p>
          <a:p>
            <a:pPr lvl="2">
              <a:defRPr/>
            </a:pPr>
            <a:r>
              <a:rPr lang="en-US">
                <a:latin typeface="Calibri Light"/>
              </a:rPr>
              <a:t>Third level</a:t>
            </a:r>
          </a:p>
          <a:p>
            <a:pPr lvl="3">
              <a:defRPr/>
            </a:pPr>
            <a:r>
              <a:rPr lang="en-US">
                <a:latin typeface="Calibri Light"/>
              </a:rPr>
              <a:t>Fourth level</a:t>
            </a:r>
          </a:p>
          <a:p>
            <a:pPr lvl="4">
              <a:defRPr/>
            </a:pPr>
            <a:r>
              <a:rPr lang="en-US">
                <a:latin typeface="Calibri Light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  <a:p>
            <a:pPr lvl="1">
              <a:defRPr/>
            </a:pPr>
            <a:r>
              <a:rPr lang="en-US">
                <a:latin typeface="Calibri Light"/>
              </a:rPr>
              <a:t>Second level</a:t>
            </a:r>
          </a:p>
          <a:p>
            <a:pPr lvl="2">
              <a:defRPr/>
            </a:pPr>
            <a:r>
              <a:rPr lang="en-US">
                <a:latin typeface="Calibri Light"/>
              </a:rPr>
              <a:t>Third level</a:t>
            </a:r>
          </a:p>
          <a:p>
            <a:pPr lvl="3">
              <a:defRPr/>
            </a:pPr>
            <a:r>
              <a:rPr lang="en-US">
                <a:latin typeface="Calibri Light"/>
              </a:rPr>
              <a:t>Fourth level</a:t>
            </a:r>
          </a:p>
          <a:p>
            <a:pPr lvl="4">
              <a:defRPr/>
            </a:pPr>
            <a:r>
              <a:rPr lang="en-US">
                <a:latin typeface="Calibri Light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  <a:p>
            <a:pPr lvl="1">
              <a:defRPr/>
            </a:pPr>
            <a:r>
              <a:rPr lang="en-US">
                <a:latin typeface="Calibri Light"/>
              </a:rPr>
              <a:t>Second level</a:t>
            </a:r>
          </a:p>
          <a:p>
            <a:pPr lvl="2">
              <a:defRPr/>
            </a:pPr>
            <a:r>
              <a:rPr lang="en-US">
                <a:latin typeface="Calibri Light"/>
              </a:rPr>
              <a:t>Third level</a:t>
            </a:r>
          </a:p>
          <a:p>
            <a:pPr lvl="3">
              <a:defRPr/>
            </a:pPr>
            <a:r>
              <a:rPr lang="en-US">
                <a:latin typeface="Calibri Light"/>
              </a:rPr>
              <a:t>Fourth level</a:t>
            </a:r>
          </a:p>
          <a:p>
            <a:pPr lvl="4">
              <a:defRPr/>
            </a:pPr>
            <a:r>
              <a:rPr lang="en-US">
                <a:latin typeface="Calibri Light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  <a:p>
            <a:pPr lvl="1">
              <a:defRPr/>
            </a:pPr>
            <a:r>
              <a:rPr lang="en-US">
                <a:latin typeface="Calibri Light"/>
              </a:rPr>
              <a:t>Second level</a:t>
            </a:r>
          </a:p>
          <a:p>
            <a:pPr lvl="2">
              <a:defRPr/>
            </a:pPr>
            <a:r>
              <a:rPr lang="en-US">
                <a:latin typeface="Calibri Light"/>
              </a:rPr>
              <a:t>Third level</a:t>
            </a:r>
          </a:p>
          <a:p>
            <a:pPr lvl="3">
              <a:defRPr/>
            </a:pPr>
            <a:r>
              <a:rPr lang="en-US">
                <a:latin typeface="Calibri Light"/>
              </a:rPr>
              <a:t>Fourth level</a:t>
            </a:r>
          </a:p>
          <a:p>
            <a:pPr lvl="4">
              <a:defRPr/>
            </a:pPr>
            <a:r>
              <a:rPr lang="en-US">
                <a:latin typeface="Calibri Light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  <a:p>
            <a:pPr lvl="1">
              <a:defRPr/>
            </a:pPr>
            <a:r>
              <a:rPr lang="en-US">
                <a:latin typeface="Calibri Light"/>
              </a:rPr>
              <a:t>Second level</a:t>
            </a:r>
          </a:p>
          <a:p>
            <a:pPr lvl="2">
              <a:defRPr/>
            </a:pPr>
            <a:r>
              <a:rPr lang="en-US">
                <a:latin typeface="Calibri Light"/>
              </a:rPr>
              <a:t>Third level</a:t>
            </a:r>
          </a:p>
          <a:p>
            <a:pPr lvl="3">
              <a:defRPr/>
            </a:pPr>
            <a:r>
              <a:rPr lang="en-US">
                <a:latin typeface="Calibri Light"/>
              </a:rPr>
              <a:t>Fourth level</a:t>
            </a:r>
          </a:p>
          <a:p>
            <a:pPr lvl="4">
              <a:defRPr/>
            </a:pPr>
            <a:r>
              <a:rPr lang="en-US">
                <a:latin typeface="Calibri Light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  <a:p>
            <a:pPr lvl="1">
              <a:defRPr/>
            </a:pPr>
            <a:r>
              <a:rPr lang="en-US">
                <a:latin typeface="Calibri Light"/>
              </a:rPr>
              <a:t>Second level</a:t>
            </a:r>
          </a:p>
          <a:p>
            <a:pPr lvl="2">
              <a:defRPr/>
            </a:pPr>
            <a:r>
              <a:rPr lang="en-US">
                <a:latin typeface="Calibri Light"/>
              </a:rPr>
              <a:t>Third level</a:t>
            </a:r>
          </a:p>
          <a:p>
            <a:pPr lvl="3">
              <a:defRPr/>
            </a:pPr>
            <a:r>
              <a:rPr lang="en-US">
                <a:latin typeface="Calibri Light"/>
              </a:rPr>
              <a:t>Fourth level</a:t>
            </a:r>
          </a:p>
          <a:p>
            <a:pPr lvl="4">
              <a:defRPr/>
            </a:pPr>
            <a:r>
              <a:rPr lang="en-US">
                <a:latin typeface="Calibri Light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  <a:p>
            <a:pPr lvl="1">
              <a:defRPr/>
            </a:pPr>
            <a:r>
              <a:rPr lang="en-US">
                <a:latin typeface="Calibri Light"/>
              </a:rPr>
              <a:t>Second level</a:t>
            </a:r>
          </a:p>
          <a:p>
            <a:pPr lvl="2">
              <a:defRPr/>
            </a:pPr>
            <a:r>
              <a:rPr lang="en-US">
                <a:latin typeface="Calibri Light"/>
              </a:rPr>
              <a:t>Third level</a:t>
            </a:r>
          </a:p>
          <a:p>
            <a:pPr lvl="3">
              <a:defRPr/>
            </a:pPr>
            <a:r>
              <a:rPr lang="en-US">
                <a:latin typeface="Calibri Light"/>
              </a:rPr>
              <a:t>Fourth level</a:t>
            </a:r>
          </a:p>
          <a:p>
            <a:pPr lvl="4">
              <a:defRPr/>
            </a:pPr>
            <a:r>
              <a:rPr lang="en-US">
                <a:latin typeface="Calibri Light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>
                <a:latin typeface="Calibri Light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>
                <a:latin typeface="Calibri Light"/>
              </a:rPr>
              <a:t>Click to edit Master text styles</a:t>
            </a:r>
          </a:p>
          <a:p>
            <a:pPr lvl="1">
              <a:defRPr/>
            </a:pPr>
            <a:r>
              <a:rPr lang="en-US">
                <a:latin typeface="Calibri Light"/>
              </a:rPr>
              <a:t>Second level</a:t>
            </a:r>
          </a:p>
          <a:p>
            <a:pPr lvl="2">
              <a:defRPr/>
            </a:pPr>
            <a:r>
              <a:rPr lang="en-US">
                <a:latin typeface="Calibri Light"/>
              </a:rPr>
              <a:t>Third level</a:t>
            </a:r>
          </a:p>
          <a:p>
            <a:pPr lvl="3">
              <a:defRPr/>
            </a:pPr>
            <a:r>
              <a:rPr lang="en-US">
                <a:latin typeface="Calibri Light"/>
              </a:rPr>
              <a:t>Fourth level</a:t>
            </a:r>
          </a:p>
          <a:p>
            <a:pPr lvl="4">
              <a:defRPr/>
            </a:pPr>
            <a:r>
              <a:rPr lang="en-US">
                <a:latin typeface="Calibri Light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" y="34747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 Light"/>
              </a:rPr>
              <a:t>AI ANALYST  ·  AI ANALYST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783080"/>
            <a:ext cx="502920" cy="45720"/>
          </a:xfrm>
          <a:prstGeom prst="rect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" y="187451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Q1 2026 surged +42% but March erased $29K — seasonal trap or new risk?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 Light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916936" y="5715000"/>
            <a:ext cx="9144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5715000"/>
            <a:ext cx="9144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50608" y="5715000"/>
            <a:ext cx="9144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62872" y="5715000"/>
            <a:ext cx="9144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5788152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 Light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6007608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Jan 2025 –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788152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 Light"/>
              </a:rP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6007608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488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5788152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 Light"/>
              </a:rPr>
              <a:t>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8344" y="6007608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3 (Enterprise, Mid-Market, SMB)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5788152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 Light"/>
              </a:rPr>
              <a:t>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6007608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3 (Platform, Analytics, Support)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5788152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 Light"/>
              </a:rPr>
              <a:t>PREPARED BY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2016" y="6007608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4A3B8"/>
                </a:solidFill>
                <a:latin typeface="Calibri"/>
              </a:rPr>
              <a:t>AI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Context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Business Context &amp; Analysis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Q1 2026 rebound masked </a:t>
            </a:r>
            <a:r>
              <a:rPr sz="2000" b="1">
                <a:solidFill>
                  <a:srgbClr val="2554E7"/>
                </a:solidFill>
                <a:latin typeface="Calibri"/>
              </a:rPr>
              <a:t>geographic concentration</a:t>
            </a:r>
            <a:r>
              <a:rPr sz="2000" b="1">
                <a:solidFill>
                  <a:srgbClr val="111827"/>
                </a:solidFill>
                <a:latin typeface="Calibri"/>
              </a:rPr>
              <a:t> and a sharp </a:t>
            </a:r>
            <a:r>
              <a:rPr sz="2000" b="1">
                <a:solidFill>
                  <a:srgbClr val="2554E7"/>
                </a:solidFill>
                <a:latin typeface="Calibri"/>
              </a:rPr>
              <a:t>seasonal March trough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453896"/>
            <a:ext cx="5074920" cy="466344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727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54E7"/>
                </a:solidFill>
                <a:latin typeface="Calibri"/>
              </a:rPr>
              <a:t>Business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47672"/>
            <a:ext cx="4846320" cy="3081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Overall performance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Q1 2026 delivered $131,360, the strongest quarter since Q2 2025's peak of $136,809.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Segment growth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All three customer segments grew QoQ for the first time in four quarters.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0">
                <a:solidFill>
                  <a:srgbClr val="374151"/>
                </a:solidFill>
                <a:latin typeface="Calibri Light"/>
              </a:rPr>
              <a:t>Mid-Market led at +74%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0">
                <a:solidFill>
                  <a:srgbClr val="374151"/>
                </a:solidFill>
                <a:latin typeface="Calibri Light"/>
              </a:rPr>
              <a:t>Enterprise added +26%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0">
                <a:solidFill>
                  <a:srgbClr val="374151"/>
                </a:solidFill>
                <a:latin typeface="Calibri Light"/>
              </a:rPr>
              <a:t>SMB grew +33%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What the rebound masked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0">
                <a:solidFill>
                  <a:srgbClr val="374151"/>
                </a:solidFill>
                <a:latin typeface="Calibri Light"/>
              </a:rPr>
              <a:t>North region alone drove 86% of the QoQ dollar gain, jumping from 23.5% to 40.1% revenue share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0">
                <a:solidFill>
                  <a:srgbClr val="374151"/>
                </a:solidFill>
                <a:latin typeface="Calibri Light"/>
              </a:rPr>
              <a:t>Platform accounted for 60.6% of Q1 revenue after a +72% QoQ surge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" y="5148072"/>
            <a:ext cx="4764024" cy="777240"/>
          </a:xfrm>
          <a:prstGeom prst="roundRect">
            <a:avLst>
              <a:gd name="adj" fmla="val 1413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212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44982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0">
                <a:solidFill>
                  <a:srgbClr val="FFFFFF"/>
                </a:solidFill>
                <a:latin typeface="Calibri Light"/>
              </a:rPr>
              <a:t>Q1 2026 rebound masks regional concentration and one deep seasonal trough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216" y="1453896"/>
            <a:ext cx="5074920" cy="466344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7276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54E7"/>
                </a:solidFill>
                <a:latin typeface="Calibri"/>
              </a:rPr>
              <a:t>Analysis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56832" y="2139696"/>
            <a:ext cx="320040" cy="320040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20665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4155"/>
                </a:solidFill>
                <a:latin typeface="Calibri"/>
              </a:rPr>
              <a:t>DATA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24942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000" b="0" i="0">
                <a:solidFill>
                  <a:srgbClr val="111827"/>
                </a:solidFill>
                <a:latin typeface="Calibri Light"/>
              </a:rPr>
              <a:t>2025-01-01 to 2026-06-30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56832" y="3017520"/>
            <a:ext cx="320040" cy="320040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294436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4155"/>
                </a:solidFill>
                <a:latin typeface="Calibri"/>
              </a:rPr>
              <a:t>RECORDS ANALYZED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31272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000" b="0" i="0">
                <a:solidFill>
                  <a:srgbClr val="111827"/>
                </a:solidFill>
                <a:latin typeface="Calibri Light"/>
              </a:rPr>
              <a:t>500 orders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56832" y="3886200"/>
            <a:ext cx="320040" cy="320040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381304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4155"/>
                </a:solidFill>
                <a:latin typeface="Calibri"/>
              </a:rPr>
              <a:t>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9959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000" b="0" i="0">
                <a:solidFill>
                  <a:srgbClr val="111827"/>
                </a:solidFill>
                <a:latin typeface="Calibri Light"/>
              </a:rPr>
              <a:t>segment, region, product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56832" y="4764024"/>
            <a:ext cx="320040" cy="320040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469087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4155"/>
                </a:solidFill>
                <a:latin typeface="Calibri"/>
              </a:rPr>
              <a:t>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487375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000" b="0" i="0">
                <a:solidFill>
                  <a:srgbClr val="111827"/>
                </a:solidFill>
                <a:latin typeface="Calibri Light"/>
              </a:rPr>
              <a:t>Descriptive, Diagnostic, Predictive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Approach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Analysis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Three analytical lenses explain </a:t>
            </a:r>
            <a:r>
              <a:rPr sz="2000" b="1">
                <a:solidFill>
                  <a:srgbClr val="2554E7"/>
                </a:solidFill>
                <a:latin typeface="Calibri"/>
              </a:rPr>
              <a:t>what happened</a:t>
            </a:r>
            <a:r>
              <a:rPr sz="2000" b="1">
                <a:solidFill>
                  <a:srgbClr val="111827"/>
                </a:solidFill>
                <a:latin typeface="Calibri"/>
              </a:rPr>
              <a:t>, </a:t>
            </a:r>
            <a:r>
              <a:rPr sz="2000" b="1">
                <a:solidFill>
                  <a:srgbClr val="2554E7"/>
                </a:solidFill>
                <a:latin typeface="Calibri"/>
              </a:rPr>
              <a:t>why it happened</a:t>
            </a:r>
            <a:r>
              <a:rPr sz="2000" b="1">
                <a:solidFill>
                  <a:srgbClr val="111827"/>
                </a:solidFill>
                <a:latin typeface="Calibri"/>
              </a:rPr>
              <a:t>, and </a:t>
            </a:r>
            <a:r>
              <a:rPr sz="2000" b="1">
                <a:solidFill>
                  <a:srgbClr val="2554E7"/>
                </a:solidFill>
                <a:latin typeface="Calibri"/>
              </a:rPr>
              <a:t>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581912"/>
            <a:ext cx="3227832" cy="467258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0704" y="1792224"/>
            <a:ext cx="438912" cy="411480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79222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32257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What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2734056"/>
            <a:ext cx="2834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Overall performance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Q1 2026 revenue reached $131,360, up +41.8% QoQ from Q4 2025's $92,669.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March trough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March hit $25,002, a drop of -54% vs February, the sharpest single-month decline in the dataset.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Segment picture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All 3 segments grew QoQ, with North region dominating the dollar gains at +135.5%.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5623560"/>
            <a:ext cx="28346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1">
                <a:solidFill>
                  <a:srgbClr val="94A3B8"/>
                </a:solidFill>
                <a:latin typeface="Calibri Light"/>
              </a:rPr>
              <a:t>→ Descriptive: 17 months, 488 orders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81912"/>
            <a:ext cx="3227832" cy="467258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18888" y="1792224"/>
            <a:ext cx="438912" cy="411480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79222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32257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Why It Happened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734056"/>
            <a:ext cx="2834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Root cause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Enterprise and Platform withdrawal drove 70% of the March drop, within a confirmed seasonal pattern.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Seasonality confirmed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March pattern is identical to 2025, confirming structural rather than one-off behavior.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Hypotheses ruled out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Discounts and churn tested and rejected as contributing causes. 5 hypotheses, 3 rejected.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5623560"/>
            <a:ext cx="28346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1">
                <a:solidFill>
                  <a:srgbClr val="94A3B8"/>
                </a:solidFill>
                <a:latin typeface="Calibri Light"/>
              </a:rPr>
              <a:t>→ 5 hypotheses tested, 3 rejected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581912"/>
            <a:ext cx="3227832" cy="467258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67928" y="1792224"/>
            <a:ext cx="438912" cy="411480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79222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32257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What's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734056"/>
            <a:ext cx="2834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Base case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Q3 2026 forecast of $155,869, modeled using Holt-Winters at 8.3% holdout MAPE.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Forecast range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95% confidence interval spanning $125K to $179K across three scenarios.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Key risk variables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North share and Platform QoQ are the two primary swing factors for Q3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5623560"/>
            <a:ext cx="28346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1">
                <a:solidFill>
                  <a:srgbClr val="94A3B8"/>
                </a:solidFill>
                <a:latin typeface="Calibri Light"/>
              </a:rPr>
              <a:t>→ Q3 2026 forecast, 95% CI: $125K–$179K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Context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What's Happening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Q1 2026 </a:t>
            </a:r>
            <a:r>
              <a:rPr sz="2000" b="1">
                <a:solidFill>
                  <a:srgbClr val="2554E7"/>
                </a:solidFill>
                <a:latin typeface="Calibri"/>
              </a:rPr>
              <a:t>reversed</a:t>
            </a:r>
            <a:r>
              <a:rPr sz="2000" b="1">
                <a:solidFill>
                  <a:srgbClr val="111827"/>
                </a:solidFill>
                <a:latin typeface="Calibri"/>
              </a:rPr>
              <a:t> three consecutive quarters of decline, marking the </a:t>
            </a:r>
            <a:r>
              <a:rPr sz="2000" b="1">
                <a:solidFill>
                  <a:srgbClr val="2554E7"/>
                </a:solidFill>
                <a:latin typeface="Calibri"/>
              </a:rPr>
              <a:t>strongest rebound</a:t>
            </a:r>
            <a:r>
              <a:rPr sz="2000" b="1">
                <a:solidFill>
                  <a:srgbClr val="111827"/>
                </a:solidFill>
                <a:latin typeface="Calibri"/>
              </a:rPr>
              <a:t> in </a:t>
            </a:r>
            <a:r>
              <a:rPr sz="2000" b="1">
                <a:solidFill>
                  <a:srgbClr val="2554E7"/>
                </a:solidFill>
                <a:latin typeface="Calibri"/>
              </a:rPr>
              <a:t>17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Revenue fell three consecutive quarters from the Q2 2025 peak of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$136,809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to $92,669 in Q4 2025, a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-32%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cumulative decline. Q1 2026 reversed course sharply, adding $38,691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+41.8% QoQ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 to reach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$131,360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, the strongest single-quarter rebound in 17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Three-quarter slide reversed in Q1 2026 — revenue recovered to near-peak levels</a:t>
            </a:r>
          </a:p>
        </p:txBody>
      </p:sp>
      <p:pic>
        <p:nvPicPr>
          <p:cNvPr id="10" name="Picture 9" descr="quarterl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419856"/>
            <a:ext cx="4507992" cy="25420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02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January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$51,926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 and February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$54,432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 were the two strongest consecutive months in the dataset. March dropped sharply to $25,002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-54% MoM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), consistent with prior seasonality. April rebounded to a record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$58,003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+132% MoM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), confirming a strong V-shaped recovery.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March 2026: V-shaped trough — April sets all-time monthly record at $58K</a:t>
            </a:r>
          </a:p>
        </p:txBody>
      </p:sp>
      <p:pic>
        <p:nvPicPr>
          <p:cNvPr id="17" name="Picture 16" descr="monthly_revenue_high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419856"/>
            <a:ext cx="4507992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Context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What's Happening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Mid-Market led growth at </a:t>
            </a:r>
            <a:r>
              <a:rPr sz="2000" b="1">
                <a:solidFill>
                  <a:srgbClr val="2554E7"/>
                </a:solidFill>
                <a:latin typeface="Calibri"/>
              </a:rPr>
              <a:t>74% QoQ</a:t>
            </a:r>
            <a:r>
              <a:rPr sz="2000" b="1">
                <a:solidFill>
                  <a:srgbClr val="111827"/>
                </a:solidFill>
                <a:latin typeface="Calibri"/>
              </a:rPr>
              <a:t>, but </a:t>
            </a:r>
            <a:r>
              <a:rPr sz="2000" b="1">
                <a:solidFill>
                  <a:srgbClr val="2554E7"/>
                </a:solidFill>
                <a:latin typeface="Calibri"/>
              </a:rPr>
              <a:t>North drove 86%</a:t>
            </a:r>
            <a:r>
              <a:rPr sz="2000" b="1">
                <a:solidFill>
                  <a:srgbClr val="111827"/>
                </a:solidFill>
                <a:latin typeface="Calibri"/>
              </a:rPr>
              <a:t> of the total dollar gain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All three segments grew QoQ — the first full-segment rebound in four quarters. Mid-Market was fastest at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+74.1% QoQ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, contributing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48%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the total $38.7K gain. Enterprise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+26%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 and SMB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+33%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 also expanded, making Q1 the broadest growth quarter in the dataset.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Mid-Market added $18.6K — nearly half the entire Q4-to-Q1 revenue gain</a:t>
            </a:r>
          </a:p>
        </p:txBody>
      </p:sp>
      <p:pic>
        <p:nvPicPr>
          <p:cNvPr id="10" name="Picture 9" descr="segment_qoq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419856"/>
            <a:ext cx="4507992" cy="25420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02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North surged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+135.5% QoQ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, jumping from 23.5% to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40.1%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total revenue and contributing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86%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the QoQ dollar gain. South grew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+57.7%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. East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-10.4%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 and West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-11.6%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 contracted, showing Q1 growth was geographically concentrated despite strong headline numbers.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North jumped from $21.7K to $54.9K — East and West both contracted QoQ</a:t>
            </a:r>
          </a:p>
        </p:txBody>
      </p:sp>
      <p:pic>
        <p:nvPicPr>
          <p:cNvPr id="17" name="Picture 16" descr="region_qoq_slope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419856"/>
            <a:ext cx="4507992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Context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What's Happening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Platform generated </a:t>
            </a:r>
            <a:r>
              <a:rPr sz="2000" b="1">
                <a:solidFill>
                  <a:srgbClr val="2554E7"/>
                </a:solidFill>
                <a:latin typeface="Calibri"/>
              </a:rPr>
              <a:t>61% of Q1 revenue</a:t>
            </a:r>
            <a:r>
              <a:rPr sz="2000" b="1">
                <a:solidFill>
                  <a:srgbClr val="111827"/>
                </a:solidFill>
                <a:latin typeface="Calibri"/>
              </a:rPr>
              <a:t> — </a:t>
            </a:r>
            <a:r>
              <a:rPr sz="2000" b="1">
                <a:solidFill>
                  <a:srgbClr val="2554E7"/>
                </a:solidFill>
                <a:latin typeface="Calibri"/>
              </a:rPr>
              <a:t>primary growth engine</a:t>
            </a:r>
            <a:r>
              <a:rPr sz="2000" b="1">
                <a:solidFill>
                  <a:srgbClr val="111827"/>
                </a:solidFill>
                <a:latin typeface="Calibri"/>
              </a:rPr>
              <a:t> and </a:t>
            </a:r>
            <a:r>
              <a:rPr sz="2000" b="1">
                <a:solidFill>
                  <a:srgbClr val="2554E7"/>
                </a:solidFill>
                <a:latin typeface="Calibri"/>
              </a:rPr>
              <a:t>largest concentration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Platform surged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+71.8% QoQ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to $79,623, contributing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86%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the total QoQ dollar gain and expanding to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60.6%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Q1 revenue. Analytics grew moderately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+36.9%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), while Support declined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-29.7%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as the only contracting product. Platform is now 2.1x larger than Analytics.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Platform at $79.6K — 2.1x Analytics, 6.5x Support; Support the only product declining</a:t>
            </a:r>
          </a:p>
        </p:txBody>
      </p:sp>
      <p:pic>
        <p:nvPicPr>
          <p:cNvPr id="10" name="Picture 9" descr="product_revenu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419856"/>
            <a:ext cx="4507992" cy="25420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02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With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60.6%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total revenue, Platform has become a major single-product dependency. In March, Platform fell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-60.6%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and accounted for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73.2%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the monthly revenue drop, amplifying the seasonal trough. Any Platform slowdown in Q3 would disproportionately impact overall performance.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Platform dominates every month of Q1 — March collapse came entirely from Platform drop</a:t>
            </a:r>
          </a:p>
        </p:txBody>
      </p:sp>
      <p:pic>
        <p:nvPicPr>
          <p:cNvPr id="17" name="Picture 16" descr="product_concentr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419856"/>
            <a:ext cx="4507992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Findings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54E7"/>
                </a:solidFill>
                <a:latin typeface="Calibri"/>
              </a:rPr>
              <a:t>Three data-backed root causes</a:t>
            </a:r>
            <a:r>
              <a:rPr sz="2000" b="1">
                <a:solidFill>
                  <a:srgbClr val="111827"/>
                </a:solidFill>
                <a:latin typeface="Calibri"/>
              </a:rPr>
              <a:t> explain the March decline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508760"/>
            <a:ext cx="3364992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73936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Seasonal Demand Trough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322576"/>
            <a:ext cx="307238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pattern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March fell -54% in both 2025 and 2026, confirming a structural seasonal trough rather than a one-off event.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mechanism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B2B budget freeze at fiscal year boundary drives Enterprise and Mid-Market buyers to defer purchases.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recovery signal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April recovered V-shaped both years, confirming demand is deferred, not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5550408"/>
            <a:ext cx="3072384" cy="384048"/>
          </a:xfrm>
          <a:prstGeom prst="roundRect">
            <a:avLst>
              <a:gd name="adj" fmla="val 1413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5596128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900" b="0" i="1">
                <a:solidFill>
                  <a:srgbClr val="EF4444"/>
                </a:solidFill>
                <a:latin typeface="Calibri Light"/>
              </a:rPr>
              <a:t>H1 confirmed: accounts for 100% of drop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08760"/>
            <a:ext cx="3364992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8304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1773936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Enterprise Withdrawal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8304" y="2322576"/>
            <a:ext cx="307238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2587752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scale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Enterprise dropped from 9 orders to 4 in March, with revenue falling -86.4%.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concentration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Enterprise and Mid-Market together drove 109% of the total March revenue drop.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offset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SMB grew +21% but only partially masked the severity of the Enterprise decline.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5550408"/>
            <a:ext cx="3072384" cy="384048"/>
          </a:xfrm>
          <a:prstGeom prst="roundRect">
            <a:avLst>
              <a:gd name="adj" fmla="val 1413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5596128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900" b="0" i="1">
                <a:solidFill>
                  <a:srgbClr val="EF4444"/>
                </a:solidFill>
                <a:latin typeface="Calibri Light"/>
              </a:rPr>
              <a:t>H2 confirmed: mechanism within H1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508760"/>
            <a:ext cx="3364992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67344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1773936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Platform Concentration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7344" y="2322576"/>
            <a:ext cx="307238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4" y="2587752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impact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Platform fell -60.6%, losing $21.5K in March alone.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dominance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Platform drove 73.2% of the total revenue drop, the single largest contributing factor.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paradox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AOV compressed from $1,869 to $1,270 per order, while the same product powers Q1 growth.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67344" y="5550408"/>
            <a:ext cx="3072384" cy="384048"/>
          </a:xfrm>
          <a:prstGeom prst="roundRect">
            <a:avLst>
              <a:gd name="adj" fmla="val 1413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5596128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900" b="0" i="1">
                <a:solidFill>
                  <a:srgbClr val="EF4444"/>
                </a:solidFill>
                <a:latin typeface="Calibri Light"/>
              </a:rPr>
              <a:t>Amplified H2 — same product powers Q1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Root Cause #1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Seasonal Trough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March declined </a:t>
            </a:r>
            <a:r>
              <a:rPr sz="2000" b="1">
                <a:solidFill>
                  <a:srgbClr val="2554E7"/>
                </a:solidFill>
                <a:latin typeface="Calibri"/>
              </a:rPr>
              <a:t>fifty-four percent</a:t>
            </a:r>
            <a:r>
              <a:rPr sz="2000" b="1">
                <a:solidFill>
                  <a:srgbClr val="111827"/>
                </a:solidFill>
                <a:latin typeface="Calibri"/>
              </a:rPr>
              <a:t> in </a:t>
            </a:r>
            <a:r>
              <a:rPr sz="2000" b="1">
                <a:solidFill>
                  <a:srgbClr val="2554E7"/>
                </a:solidFill>
                <a:latin typeface="Calibri"/>
              </a:rPr>
              <a:t>both 2025 and 2026</a:t>
            </a:r>
            <a:r>
              <a:rPr sz="2000" b="1">
                <a:solidFill>
                  <a:srgbClr val="111827"/>
                </a:solidFill>
                <a:latin typeface="Calibri"/>
              </a:rPr>
              <a:t>, confirming a </a:t>
            </a:r>
            <a:r>
              <a:rPr sz="2000" b="1">
                <a:solidFill>
                  <a:srgbClr val="2554E7"/>
                </a:solidFill>
                <a:latin typeface="Calibri"/>
              </a:rPr>
              <a:t>recurring B2B seasonal</a:t>
            </a:r>
            <a:r>
              <a:rPr sz="2000" b="1">
                <a:solidFill>
                  <a:srgbClr val="111827"/>
                </a:solidFill>
                <a:latin typeface="Calibri"/>
              </a:rPr>
              <a:t>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March declines were nearly identical in both years: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-54.0%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in 2025 vs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-54.1%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in 2026, with order counts dropping similarly and April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fully rebounding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each time. The repeated pattern confirms a structural seasonal effect rather than a one-off event.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Feb-Mar-Apr pattern repeats in 2025 and 2026 — magnitude identical, recovery confirmed</a:t>
            </a:r>
          </a:p>
        </p:txBody>
      </p:sp>
      <p:pic>
        <p:nvPicPr>
          <p:cNvPr id="10" name="Picture 9" descr="march_season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419856"/>
            <a:ext cx="4507992" cy="25420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02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The March decline was broad-based across regions: North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-45.7%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), East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-80.2%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), and South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-69.2%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 collectively drove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98.9%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the drop, while West remained relatively stable. The cross-region pattern confirms a structural B2B seasonal pause rather than a company-specific issue.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North, East, South all fell 46–80% in March — geographic breadth rules out internal cause</a:t>
            </a:r>
          </a:p>
        </p:txBody>
      </p:sp>
      <p:pic>
        <p:nvPicPr>
          <p:cNvPr id="17" name="Picture 16" descr="march_region_dro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419856"/>
            <a:ext cx="4507992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Root Cause #2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Enterprise Withdrawal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Enterprise fell from </a:t>
            </a:r>
            <a:r>
              <a:rPr sz="2000" b="1">
                <a:solidFill>
                  <a:srgbClr val="2554E7"/>
                </a:solidFill>
                <a:latin typeface="Calibri"/>
              </a:rPr>
              <a:t>9 to 4 orders</a:t>
            </a:r>
            <a:r>
              <a:rPr sz="2000" b="1">
                <a:solidFill>
                  <a:srgbClr val="111827"/>
                </a:solidFill>
                <a:latin typeface="Calibri"/>
              </a:rPr>
              <a:t> in March, driving </a:t>
            </a:r>
            <a:r>
              <a:rPr sz="2000" b="1">
                <a:solidFill>
                  <a:srgbClr val="2554E7"/>
                </a:solidFill>
                <a:latin typeface="Calibri"/>
              </a:rPr>
              <a:t>68% of the total revenue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The March decline was driven primarily by Enterprise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-86.4%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 and Mid-Market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-66.2%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), which together contributed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over 100%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the total revenue drop. In contrast, SMB grew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+21.3%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, partially offsetting the decline and masking the severity of the upper-segment slowdown.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Enterprise and Mid-Market pulled out $32.2K; SMB added $2.7K back — net drop $29.4K</a:t>
            </a:r>
          </a:p>
        </p:txBody>
      </p:sp>
      <p:pic>
        <p:nvPicPr>
          <p:cNvPr id="10" name="Picture 9" descr="march_segment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419856"/>
            <a:ext cx="4507992" cy="25420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02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The March decline was driven mainly by an order-count shortfall, with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11 fewer orders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explaining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66%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the revenue drop. The missing orders were disproportionately high-value Enterprise and Platform deals, while higher discounting had minimal impact.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Volume shortfall (66%) and AOV compression (34%) fully account for the $29.4K March drop</a:t>
            </a:r>
          </a:p>
        </p:txBody>
      </p:sp>
      <p:pic>
        <p:nvPicPr>
          <p:cNvPr id="17" name="Picture 16" descr="march_volume_aov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419856"/>
            <a:ext cx="4507992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Root Cause #3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Platform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Platform drove </a:t>
            </a:r>
            <a:r>
              <a:rPr sz="2000" b="1">
                <a:solidFill>
                  <a:srgbClr val="2554E7"/>
                </a:solidFill>
                <a:latin typeface="Calibri"/>
              </a:rPr>
              <a:t>73% of March's decline</a:t>
            </a:r>
            <a:r>
              <a:rPr sz="2000" b="1">
                <a:solidFill>
                  <a:srgbClr val="111827"/>
                </a:solidFill>
                <a:latin typeface="Calibri"/>
              </a:rPr>
              <a:t>, while the same product powering Q1 also </a:t>
            </a:r>
            <a:r>
              <a:rPr sz="2000" b="1">
                <a:solidFill>
                  <a:srgbClr val="2554E7"/>
                </a:solidFill>
                <a:latin typeface="Calibri"/>
              </a:rPr>
              <a:t>amplified the seasonal trough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Platform drove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73.2%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the March revenue decline, falling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-60.6%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as both order volume and AOV weakened. While all product lines declined, the scale of Platform's revenue share amplified the overall seasonal downturn.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Platform collapsed from $35.5K to $14.0K in March — drove nearly three-quarters of the drop</a:t>
            </a:r>
          </a:p>
        </p:txBody>
      </p:sp>
      <p:pic>
        <p:nvPicPr>
          <p:cNvPr id="10" name="Picture 9" descr="platform_feb_m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419856"/>
            <a:ext cx="4507992" cy="25420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02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Platform concentration is accelerating — rising from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55%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of revenue in Q1 2025 to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60.6%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in Q1 2026. The same dynamic driving Platform's growth also amplifies downside risk, making it the largest risk factor for Q3 2026 performance.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Platform share rose from 50% in Q4 2025 to 61% in Q1 2026 — concentration accelerating</a:t>
            </a:r>
          </a:p>
        </p:txBody>
      </p:sp>
      <p:pic>
        <p:nvPicPr>
          <p:cNvPr id="17" name="Picture 16" descr="product_shar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419856"/>
            <a:ext cx="4507992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Findings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Hypotheses Tested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Three competing explanations were </a:t>
            </a:r>
            <a:r>
              <a:rPr sz="2000" b="1">
                <a:solidFill>
                  <a:srgbClr val="2554E7"/>
                </a:solidFill>
                <a:latin typeface="Calibri"/>
              </a:rPr>
              <a:t>tested and rejected</a:t>
            </a:r>
            <a:r>
              <a:rPr sz="2000" b="1">
                <a:solidFill>
                  <a:srgbClr val="111827"/>
                </a:solidFill>
                <a:latin typeface="Calibri"/>
              </a:rPr>
              <a:t> through </a:t>
            </a:r>
            <a:r>
              <a:rPr sz="2000" b="1">
                <a:solidFill>
                  <a:srgbClr val="2554E7"/>
                </a:solidFill>
                <a:latin typeface="Calibri"/>
              </a:rPr>
              <a:t>data-backed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581912"/>
            <a:ext cx="3227832" cy="467258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0704" y="1792224"/>
            <a:ext cx="438912" cy="411480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79222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32257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Discounts: 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2734056"/>
            <a:ext cx="2834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hypothesis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Higher discount rates drove the March revenue drop.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evidence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Discount rate rose only +2.3pp, with revenue impact of just -$682, representing 2.3% of the total $29,430 drop.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verdict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The higher discount rate reflects an SMB order mix shift, not price cuts. Negligible as a root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5623560"/>
            <a:ext cx="28346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1">
                <a:solidFill>
                  <a:srgbClr val="94A3B8"/>
                </a:solidFill>
                <a:latin typeface="Calibri Light"/>
              </a:rPr>
              <a:t>→ Rejected: explains 2% of drop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581912"/>
            <a:ext cx="3227832" cy="467258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18888" y="1792224"/>
            <a:ext cx="438912" cy="411480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179222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32257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Churn: Rejected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734056"/>
            <a:ext cx="2834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hypothesis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Customer churn drove the reduction in March order volume.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evidence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March 2026 churn rate was 0.200, the second-lowest ever recorded. Q1 2026 average churn improved from 0.381 in Q4 to 0.159.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verdict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Churn affected AOV slightly but had no meaningful impact on order volume.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5623560"/>
            <a:ext cx="28346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1">
                <a:solidFill>
                  <a:srgbClr val="94A3B8"/>
                </a:solidFill>
                <a:latin typeface="Calibri Light"/>
              </a:rPr>
              <a:t>→ Rejected: explains 5% of AOV effect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581912"/>
            <a:ext cx="3227832" cy="467258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67928" y="1792224"/>
            <a:ext cx="438912" cy="411480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1792224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32257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Discount Pull-Forward: Rejected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734056"/>
            <a:ext cx="2834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hypothesis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Q1 growth was manufactured by pulling demand forward through heavy discounting.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evidence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Q4 discount rate was 13.6% vs Q1 at 14.0%, essentially flat. Q1 volume grew by 19 net new orders and AOV rose from $1,404 to $1,545.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verdict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No pull-forward detected. Q1 growth reflects genuine demand, not a pricing artifact.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5623560"/>
            <a:ext cx="283464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100" b="0" i="1">
                <a:solidFill>
                  <a:srgbClr val="94A3B8"/>
                </a:solidFill>
                <a:latin typeface="Calibri Light"/>
              </a:rPr>
              <a:t>→ Rejected: Q1 growth is real, not manufactured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Predict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Q3 2026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Q3 2026 base forecast is </a:t>
            </a:r>
            <a:r>
              <a:rPr sz="2000" b="1">
                <a:solidFill>
                  <a:srgbClr val="2554E7"/>
                </a:solidFill>
                <a:latin typeface="Calibri"/>
              </a:rPr>
              <a:t>$155,869</a:t>
            </a:r>
            <a:r>
              <a:rPr sz="2000" b="1">
                <a:solidFill>
                  <a:srgbClr val="111827"/>
                </a:solidFill>
                <a:latin typeface="Calibri"/>
              </a:rPr>
              <a:t>, up </a:t>
            </a:r>
            <a:r>
              <a:rPr sz="2000" b="1">
                <a:solidFill>
                  <a:srgbClr val="2554E7"/>
                </a:solidFill>
                <a:latin typeface="Calibri"/>
              </a:rPr>
              <a:t>56% YoY</a:t>
            </a:r>
            <a:r>
              <a:rPr sz="2000" b="1">
                <a:solidFill>
                  <a:srgbClr val="111827"/>
                </a:solidFill>
                <a:latin typeface="Calibri"/>
              </a:rPr>
              <a:t>, with outcomes ranging from </a:t>
            </a:r>
            <a:r>
              <a:rPr sz="2000" b="1">
                <a:solidFill>
                  <a:srgbClr val="2554E7"/>
                </a:solidFill>
                <a:latin typeface="Calibri"/>
              </a:rPr>
              <a:t>$125K to $179K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The Holt-Winters forecast projects Q3 2026 at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$155.9K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+55.6% YoY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vs Q3 2025), with August expected to be the peak month before a softer September. The outlook assumes continued North region strength and sustained Platform growth momentum.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Q3 2026 forecast: $155.9K base — Jul $54.7K, Aug $62.3K, Sep $38.8K</a:t>
            </a:r>
          </a:p>
        </p:txBody>
      </p:sp>
      <p:pic>
        <p:nvPicPr>
          <p:cNvPr id="10" name="Picture 9" descr="q3_forecast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419856"/>
            <a:ext cx="4507992" cy="25420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02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The forecast carries meaningful uncertainty, with July 2026's 95% confidence interval ranging from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$38.6K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to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$70.8K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. Given the limited 17-month training history, projections should be treated as directional, with downside risk tied to weaker North or Platform performance.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Base $155.9K sits between pessimistic $124.7K and optimistic $179.3K — North/Platform are the swing</a:t>
            </a:r>
          </a:p>
        </p:txBody>
      </p:sp>
      <p:pic>
        <p:nvPicPr>
          <p:cNvPr id="17" name="Picture 16" descr="forecast_scenario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419856"/>
            <a:ext cx="4507992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Predict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Model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Holt-Winters </a:t>
            </a:r>
            <a:r>
              <a:rPr sz="2000" b="1">
                <a:solidFill>
                  <a:srgbClr val="2554E7"/>
                </a:solidFill>
                <a:latin typeface="Calibri"/>
              </a:rPr>
              <a:t>outperformed all three</a:t>
            </a:r>
            <a:r>
              <a:rPr sz="2000" b="1">
                <a:solidFill>
                  <a:srgbClr val="111827"/>
                </a:solidFill>
                <a:latin typeface="Calibri"/>
              </a:rPr>
              <a:t> competing models, beating the naive seasonal baseline by </a:t>
            </a:r>
            <a:r>
              <a:rPr sz="2000" b="1">
                <a:solidFill>
                  <a:srgbClr val="2554E7"/>
                </a:solidFill>
                <a:latin typeface="Calibri"/>
              </a:rPr>
              <a:t>42%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Among four forecasting models tested on the Mar-May 2026 holdout, Holt-Winters performed best with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8.3% MAPE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, outperforming STL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10.4%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), the seasonal baseline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14.1%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), and ETS (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24.9%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). Its stronger accuracy indicates it captured the B2B seasonal pattern most effectively.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Holt-Winters MAPE 8.3% — 42% improvement over naive seasonal, 67% better than ETS</a:t>
            </a:r>
          </a:p>
        </p:txBody>
      </p:sp>
      <p:pic>
        <p:nvPicPr>
          <p:cNvPr id="10" name="Picture 9" descr="model_comparison_m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419856"/>
            <a:ext cx="4507992" cy="25420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00216" y="1499616"/>
            <a:ext cx="5074920" cy="4809744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1673352"/>
            <a:ext cx="237744" cy="237744"/>
          </a:xfrm>
          <a:prstGeom prst="ellipse">
            <a:avLst/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733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56816"/>
            <a:ext cx="4782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 Light"/>
              </a:rPr>
              <a:t>The winning model predicted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March 2026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and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May 2026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 with near-perfect accuracy, but underestimated April's sharp rebound by </a:t>
            </a:r>
            <a:r>
              <a:rPr sz="1100" b="1">
                <a:solidFill>
                  <a:srgbClr val="2554E7"/>
                </a:solidFill>
                <a:latin typeface="Calibri Light"/>
              </a:rPr>
              <a:t>24%</a:t>
            </a:r>
            <a:r>
              <a:rPr sz="1100" b="0">
                <a:solidFill>
                  <a:srgbClr val="374151"/>
                </a:solidFill>
                <a:latin typeface="Calibri Light"/>
              </a:rPr>
              <a:t>. The model is most reliable during seasonal troughs and stable periods, while sudden recovery spikes carry higher uncertainty.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953512"/>
            <a:ext cx="4782312" cy="3172968"/>
          </a:xfrm>
          <a:prstGeom prst="roundRect">
            <a:avLst>
              <a:gd name="adj" fmla="val 1413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063240"/>
            <a:ext cx="4507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4151"/>
                </a:solidFill>
                <a:latin typeface="Calibri"/>
              </a:rPr>
              <a:t>March and May near-exact; April recovery spike harder to call — inherent in V-shape uncertainty</a:t>
            </a:r>
          </a:p>
        </p:txBody>
      </p:sp>
      <p:pic>
        <p:nvPicPr>
          <p:cNvPr id="17" name="Picture 16" descr="holdout_actual_vs_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419856"/>
            <a:ext cx="4507992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Conclusions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Key Takeouts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Three conclusions: </a:t>
            </a:r>
            <a:r>
              <a:rPr sz="2000" b="1">
                <a:solidFill>
                  <a:srgbClr val="2554E7"/>
                </a:solidFill>
                <a:latin typeface="Calibri"/>
              </a:rPr>
              <a:t>March seasonality is predictable</a:t>
            </a:r>
            <a:r>
              <a:rPr sz="2000" b="1">
                <a:solidFill>
                  <a:srgbClr val="111827"/>
                </a:solidFill>
                <a:latin typeface="Calibri"/>
              </a:rPr>
              <a:t>, </a:t>
            </a:r>
            <a:r>
              <a:rPr sz="2000" b="1">
                <a:solidFill>
                  <a:srgbClr val="2554E7"/>
                </a:solidFill>
                <a:latin typeface="Calibri"/>
              </a:rPr>
              <a:t>concentration risk is manageable</a:t>
            </a:r>
            <a:r>
              <a:rPr sz="2000" b="1">
                <a:solidFill>
                  <a:srgbClr val="111827"/>
                </a:solidFill>
                <a:latin typeface="Calibri"/>
              </a:rPr>
              <a:t>, and </a:t>
            </a:r>
            <a:r>
              <a:rPr sz="2000" b="1">
                <a:solidFill>
                  <a:srgbClr val="2554E7"/>
                </a:solidFill>
                <a:latin typeface="Calibri"/>
              </a:rPr>
              <a:t>Q3 outlook is strong</a:t>
            </a:r>
            <a:r>
              <a:rPr sz="2000" b="1">
                <a:solidFill>
                  <a:srgbClr val="111827"/>
                </a:solidFill>
                <a:latin typeface="Calibri"/>
              </a:rPr>
              <a:t> but conditional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508760"/>
            <a:ext cx="3364992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73936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554E7"/>
                </a:solidFill>
                <a:latin typeface="Calibri"/>
              </a:rPr>
              <a:t>March: Plan for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322576"/>
            <a:ext cx="307238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pattern is structural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March's -54% decline is confirmed across two consecutive years, making it predictable and plannable.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action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Front-load Enterprise deals into Jan-Feb, where each order averages $2,569 in protected revenue.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recovery signal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April consistently rebounds, indicating March reflects deferred demand rather than lost revenue.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5550408"/>
            <a:ext cx="3072384" cy="384048"/>
          </a:xfrm>
          <a:prstGeom prst="roundRect">
            <a:avLst>
              <a:gd name="adj" fmla="val 1413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5596128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900" b="0" i="1">
                <a:solidFill>
                  <a:srgbClr val="2554E7"/>
                </a:solidFill>
                <a:latin typeface="Calibri Light"/>
              </a:rPr>
              <a:t>Act now: Jan-Feb window is the only defense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08760"/>
            <a:ext cx="3364992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8304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1773936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554E7"/>
                </a:solidFill>
                <a:latin typeface="Calibri"/>
              </a:rPr>
              <a:t>Concentration: Watch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8304" y="2322576"/>
            <a:ext cx="307238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2587752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risk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North and Platform drove 86% of Q1 growth, highlighting dangerously concentrated recovery dynamics.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gap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East and West declined, reinforcing the need for stronger regional diversification before Q3.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warning sign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Support fell -30% QoQ, signaling growing product-line risk that needs to be addressed mid-term.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5550408"/>
            <a:ext cx="3072384" cy="384048"/>
          </a:xfrm>
          <a:prstGeom prst="roundRect">
            <a:avLst>
              <a:gd name="adj" fmla="val 1413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5596128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900" b="0" i="1">
                <a:solidFill>
                  <a:srgbClr val="2554E7"/>
                </a:solidFill>
                <a:latin typeface="Calibri Light"/>
              </a:rPr>
              <a:t>Mid-term: diversify before concentration bites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508760"/>
            <a:ext cx="3364992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67344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255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1773936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554E7"/>
                </a:solidFill>
                <a:latin typeface="Calibri"/>
              </a:rPr>
              <a:t>Q3: Base Case Is Strong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7344" y="2322576"/>
            <a:ext cx="307238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4" y="2587752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forecast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Q3 2026 base case of $155.9K, representing +56% YoY vs Q3 2025.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range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Forecast spans from $124.7K downside to $179.3K upside, a $54K gap driven by execution.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swing factors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Platform and North remain the two primary variables determining which scenario unfolds.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67344" y="5550408"/>
            <a:ext cx="3072384" cy="384048"/>
          </a:xfrm>
          <a:prstGeom prst="roundRect">
            <a:avLst>
              <a:gd name="adj" fmla="val 1413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5596128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900" b="0" i="1">
                <a:solidFill>
                  <a:srgbClr val="2554E7"/>
                </a:solidFill>
                <a:latin typeface="Calibri Light"/>
              </a:rPr>
              <a:t>Monitor monthly: alert if &gt;30% miss or North &lt; 25%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Action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Three-Phase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Three-phase roadmap: </a:t>
            </a:r>
            <a:r>
              <a:rPr sz="2000" b="1">
                <a:solidFill>
                  <a:srgbClr val="2554E7"/>
                </a:solidFill>
                <a:latin typeface="Calibri"/>
              </a:rPr>
              <a:t>stabilize March risk</a:t>
            </a:r>
            <a:r>
              <a:rPr sz="2000" b="1">
                <a:solidFill>
                  <a:srgbClr val="111827"/>
                </a:solidFill>
                <a:latin typeface="Calibri"/>
              </a:rPr>
              <a:t>, </a:t>
            </a:r>
            <a:r>
              <a:rPr sz="2000" b="1">
                <a:solidFill>
                  <a:srgbClr val="2554E7"/>
                </a:solidFill>
                <a:latin typeface="Calibri"/>
              </a:rPr>
              <a:t>diversify growth</a:t>
            </a:r>
            <a:r>
              <a:rPr sz="2000" b="1">
                <a:solidFill>
                  <a:srgbClr val="111827"/>
                </a:solidFill>
                <a:latin typeface="Calibri"/>
              </a:rPr>
              <a:t> by Q3, and </a:t>
            </a:r>
            <a:r>
              <a:rPr sz="2000" b="1">
                <a:solidFill>
                  <a:srgbClr val="2554E7"/>
                </a:solidFill>
                <a:latin typeface="Calibri"/>
              </a:rPr>
              <a:t>monitor forecasts</a:t>
            </a:r>
            <a:r>
              <a:rPr sz="2000" b="1">
                <a:solidFill>
                  <a:srgbClr val="111827"/>
                </a:solidFill>
                <a:latin typeface="Calibri"/>
              </a:rPr>
              <a:t> monthly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" y="1508760"/>
            <a:ext cx="3364992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42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73936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967A"/>
                </a:solidFill>
                <a:latin typeface="Calibri"/>
              </a:rPr>
              <a:t>Defend March (30 days)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322576"/>
            <a:ext cx="307238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target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Front-load $20K+ committed Enterprise in Jan-Feb to buffer against March's structural -54% decline.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leverage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Each Enterprise order averages $2,569, making early deal stacking the strongest revenue cushion available.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alert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If Feb Enterprise pipeline falls below $18K, escalate immediately before the window closes.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5550408"/>
            <a:ext cx="3072384" cy="384048"/>
          </a:xfrm>
          <a:prstGeom prst="roundRect">
            <a:avLst>
              <a:gd name="adj" fmla="val 1413"/>
            </a:avLst>
          </a:prstGeom>
          <a:solidFill>
            <a:srgbClr val="E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5596128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900" b="0" i="1">
                <a:solidFill>
                  <a:srgbClr val="42967A"/>
                </a:solidFill>
                <a:latin typeface="Calibri Light"/>
              </a:rPr>
              <a:t>Owner: Sales — Jan-Feb window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08760"/>
            <a:ext cx="3364992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18304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42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1773936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967A"/>
                </a:solidFill>
                <a:latin typeface="Calibri"/>
              </a:rPr>
              <a:t>Diversify Growth (90 days)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8304" y="2322576"/>
            <a:ext cx="307238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4" y="2587752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priority accounts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Assign AEs to top 5 lapsed accounts in East and West, the fastest near-term recovery opportunity after Q1 declines.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product play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Build an upsell roadmap for Analytics and Support, both currently underweighted relative to their potential.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concentration target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Drive Platform share below 55% by end of Q3 to reduce single-product dependency.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18304" y="5550408"/>
            <a:ext cx="3072384" cy="384048"/>
          </a:xfrm>
          <a:prstGeom prst="roundRect">
            <a:avLst>
              <a:gd name="adj" fmla="val 1413"/>
            </a:avLst>
          </a:prstGeom>
          <a:solidFill>
            <a:srgbClr val="E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5596128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900" b="0" i="1">
                <a:solidFill>
                  <a:srgbClr val="42967A"/>
                </a:solidFill>
                <a:latin typeface="Calibri Light"/>
              </a:rPr>
              <a:t>Owner: GTM — reduce single-product risk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508760"/>
            <a:ext cx="3364992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67344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42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1773936"/>
            <a:ext cx="2688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2967A"/>
                </a:solidFill>
                <a:latin typeface="Calibri"/>
              </a:rPr>
              <a:t>Monitor Q3 Monthly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67344" y="2322576"/>
            <a:ext cx="3072384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4" y="2587752"/>
            <a:ext cx="306324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forecast guard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Flag any monthly actuals vs forecast variance exceeding 30%, early detection protects the $155.9K base case.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North signal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Trigger a full review if North share drops below 25%, a key Q3 swing factor alongside Platform.</a:t>
            </a:r>
          </a:p>
          <a:p>
            <a:pPr algn="l" indent="-182880" marL="182880"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</a:pPr>
            <a:r>
              <a:rPr sz="1100" b="1" i="0">
                <a:solidFill>
                  <a:srgbClr val="374151"/>
                </a:solidFill>
                <a:latin typeface="Calibri Light"/>
              </a:rPr>
              <a:t>The recalibration trigger</a:t>
            </a:r>
            <a:r>
              <a:rPr sz="1100" b="0" i="0">
                <a:solidFill>
                  <a:srgbClr val="374151"/>
                </a:solidFill>
                <a:latin typeface="Calibri Light"/>
              </a:rPr>
              <a:t> If Platform QoQ turns negative, initiate full forecast recalibration immediately without waiting for quarter-end.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67344" y="5550408"/>
            <a:ext cx="3072384" cy="384048"/>
          </a:xfrm>
          <a:prstGeom prst="roundRect">
            <a:avLst>
              <a:gd name="adj" fmla="val 1413"/>
            </a:avLst>
          </a:prstGeom>
          <a:solidFill>
            <a:srgbClr val="E6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5596128"/>
            <a:ext cx="29626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900" b="0" i="1">
                <a:solidFill>
                  <a:srgbClr val="42967A"/>
                </a:solidFill>
                <a:latin typeface="Calibri Light"/>
              </a:rPr>
              <a:t>Owner: Analytics — monthly review cadence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Action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Five specific actions — </a:t>
            </a:r>
            <a:r>
              <a:rPr sz="2000" b="1">
                <a:solidFill>
                  <a:srgbClr val="2554E7"/>
                </a:solidFill>
                <a:latin typeface="Calibri"/>
              </a:rPr>
              <a:t>two immediate</a:t>
            </a:r>
            <a:r>
              <a:rPr sz="2000" b="1">
                <a:solidFill>
                  <a:srgbClr val="111827"/>
                </a:solidFill>
                <a:latin typeface="Calibri"/>
              </a:rPr>
              <a:t> with </a:t>
            </a:r>
            <a:r>
              <a:rPr sz="2000" b="1">
                <a:solidFill>
                  <a:srgbClr val="2554E7"/>
                </a:solidFill>
                <a:latin typeface="Calibri"/>
              </a:rPr>
              <a:t>hard deadlines</a:t>
            </a:r>
            <a:r>
              <a:rPr sz="2000" b="1">
                <a:solidFill>
                  <a:srgbClr val="111827"/>
                </a:solidFill>
                <a:latin typeface="Calibri"/>
              </a:rPr>
              <a:t>, two strategic, one ongoing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609344"/>
            <a:ext cx="10570464" cy="320040"/>
          </a:xfrm>
          <a:prstGeom prst="rect">
            <a:avLst/>
          </a:prstGeom>
          <a:solidFill>
            <a:srgbClr val="42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73352"/>
            <a:ext cx="100583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673352"/>
            <a:ext cx="35661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673352"/>
            <a:ext cx="12801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73352"/>
            <a:ext cx="100583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673352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673352"/>
            <a:ext cx="1426463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SUCCESS 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929384"/>
            <a:ext cx="10570464" cy="9098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" y="1965960"/>
            <a:ext cx="1042415" cy="836676"/>
          </a:xfrm>
          <a:prstGeom prst="roundRect">
            <a:avLst>
              <a:gd name="adj" fmla="val 1413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993391"/>
            <a:ext cx="1005839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P1-Now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993391"/>
            <a:ext cx="35661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Front-load Enterprise pipeline in Jan-Feb 2027: target $20K+ in committed Enterprise orders by Feb 15 to offset March seasonal withdrawal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993391"/>
            <a:ext cx="12801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Sales 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93391"/>
            <a:ext cx="1005839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By Feb 15,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93391"/>
            <a:ext cx="17373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Reduces March 2027 drop by 20-30%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993391"/>
            <a:ext cx="1426463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Feb 2027 Enterprise pipeline &gt; $20K committed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2839212"/>
            <a:ext cx="10570464" cy="106984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552" y="2875788"/>
            <a:ext cx="1042415" cy="996695"/>
          </a:xfrm>
          <a:prstGeom prst="roundRect">
            <a:avLst>
              <a:gd name="adj" fmla="val 1413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903220"/>
            <a:ext cx="1005839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P1-Now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903220"/>
            <a:ext cx="35661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Launch monthly forecast vs actuals review: implement variance tracking and trigger model recalibration if any month misses point estimate by more than 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903220"/>
            <a:ext cx="12801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Analytics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903220"/>
            <a:ext cx="1005839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Live by June 30,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03220"/>
            <a:ext cx="1737360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Early Q3 warning system active before July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903220"/>
            <a:ext cx="1426463" cy="978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Monthly variance report delivered by 10th of each 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909060"/>
            <a:ext cx="10570464" cy="9098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973068"/>
            <a:ext cx="1005839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P2-Next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973068"/>
            <a:ext cx="35661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Assign dedicated AEs to top 5 lapsed accounts in East and West regions; set Q2 2026 recovery target of more than 10% QoQ growth for each region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973068"/>
            <a:ext cx="12801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Sales/GTM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973068"/>
            <a:ext cx="1005839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Q2 2026 (by June 30)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973068"/>
            <a:ext cx="17373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East + West combined share rises toward 40%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973068"/>
            <a:ext cx="1426463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East + West combined revenue share &gt; 38% in Q2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4818888"/>
            <a:ext cx="10570464" cy="909828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882896"/>
            <a:ext cx="1005839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P2-Next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882896"/>
            <a:ext cx="35661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Build Analytics and Support upsell roadmap with quarterly revenue targets to reduce Platform concentration from 60.6% toward 55% by Q3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4882896"/>
            <a:ext cx="12801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Product/Sales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882896"/>
            <a:ext cx="1005839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Q3 2026 (by Sep 30)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882896"/>
            <a:ext cx="17373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Platform share below 55% by Q3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882896"/>
            <a:ext cx="1426463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Platform revenue share &lt; 55% in Q3 2026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5728716"/>
            <a:ext cx="10570464" cy="9098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792724"/>
            <a:ext cx="1005839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P3-Watch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5792724"/>
            <a:ext cx="35661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Monitor North region revenue share monthly; escalate if share drops below 25% or Platform QoQ growth turns negative for two consecutive months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5792724"/>
            <a:ext cx="12801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Analytics Lead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792724"/>
            <a:ext cx="1005839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Ongoing from June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792724"/>
            <a:ext cx="1737360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Q3 concentration risk flagged 4-6 weeks early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5792724"/>
            <a:ext cx="1426463" cy="81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  <a:latin typeface="Calibri"/>
              </a:rPr>
              <a:t>North share &gt; 25% and Platform QoQ &gt; 0% each month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374904"/>
            <a:ext cx="731520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Calibri Light"/>
              </a:rPr>
              <a:t>Action  |  </a:t>
            </a:r>
            <a:r>
              <a:rPr sz="1000" b="1">
                <a:solidFill>
                  <a:srgbClr val="2554E7"/>
                </a:solidFill>
                <a:latin typeface="Calibri"/>
              </a:rPr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621792"/>
            <a:ext cx="1057046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Calibri"/>
              </a:rPr>
              <a:t>Execute the playbook and Q3 lands near </a:t>
            </a:r>
            <a:r>
              <a:rPr sz="2000" b="1">
                <a:solidFill>
                  <a:srgbClr val="2554E7"/>
                </a:solidFill>
                <a:latin typeface="Calibri"/>
              </a:rPr>
              <a:t>$179K</a:t>
            </a:r>
            <a:r>
              <a:rPr sz="2000" b="1">
                <a:solidFill>
                  <a:srgbClr val="111827"/>
                </a:solidFill>
                <a:latin typeface="Calibri"/>
              </a:rPr>
              <a:t>, ignore it and risk </a:t>
            </a:r>
            <a:r>
              <a:rPr sz="2000" b="1">
                <a:solidFill>
                  <a:srgbClr val="2554E7"/>
                </a:solidFill>
                <a:latin typeface="Calibri"/>
              </a:rPr>
              <a:t>$124K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08760"/>
            <a:ext cx="5138928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42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18013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2967A"/>
                </a:solidFill>
                <a:latin typeface="Calibri"/>
              </a:rPr>
              <a:t>Why Front-Load Enterprise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2322576"/>
            <a:ext cx="449884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587752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374151"/>
                </a:solidFill>
                <a:latin typeface="Calibri Light"/>
              </a:rPr>
              <a:t>The core mechanic:</a:t>
            </a:r>
            <a:r>
              <a:rPr sz="1200" b="0" i="0">
                <a:solidFill>
                  <a:srgbClr val="374151"/>
                </a:solidFill>
                <a:latin typeface="Calibri Light"/>
              </a:rPr>
              <a:t> Front-loading Enterprise pipeline in Jan–Feb is the highest-leverage near-term action available.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374151"/>
                </a:solidFill>
                <a:latin typeface="Calibri Light"/>
              </a:rPr>
              <a:t>What each deal is worth: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 i="0">
                <a:solidFill>
                  <a:srgbClr val="374151"/>
                </a:solidFill>
                <a:latin typeface="Calibri Light"/>
              </a:rPr>
              <a:t>Each additional Enterprise order in February = ~$2,569 in revenue (Feb 2026 Enterprise AOV)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 i="0">
                <a:solidFill>
                  <a:srgbClr val="374151"/>
                </a:solidFill>
                <a:latin typeface="Calibri Light"/>
              </a:rPr>
              <a:t>Shifting just 5 Enterprise deals from March to Jan/Feb recovers an estimated $10–$13K of the typical March shortfall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 i="0">
                <a:solidFill>
                  <a:srgbClr val="374151"/>
                </a:solidFill>
                <a:latin typeface="Calibri Light"/>
              </a:rPr>
              <a:t>Equivalent to reducing the March drop from -54% toward -38%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374151"/>
                </a:solidFill>
                <a:latin typeface="Calibri Light"/>
              </a:rPr>
              <a:t>Why January matters most:</a:t>
            </a:r>
            <a:r>
              <a:rPr sz="1200" b="0" i="0">
                <a:solidFill>
                  <a:srgbClr val="374151"/>
                </a:solidFill>
                <a:latin typeface="Calibri Light"/>
              </a:rPr>
              <a:t> January is the most efficient month to close Enterprise renewals, before the Q1/Q2 planning freeze sets 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508760"/>
            <a:ext cx="5138928" cy="4800600"/>
          </a:xfrm>
          <a:prstGeom prst="roundRect">
            <a:avLst>
              <a:gd name="adj" fmla="val 1413"/>
            </a:avLst>
          </a:prstGeom>
          <a:noFill/>
          <a:ln>
            <a:solidFill>
              <a:schemeClr val="tx1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73368" y="1746504"/>
            <a:ext cx="384048" cy="384048"/>
          </a:xfrm>
          <a:prstGeom prst="roundRect">
            <a:avLst>
              <a:gd name="adj" fmla="val 80000"/>
            </a:avLst>
          </a:prstGeom>
          <a:solidFill>
            <a:srgbClr val="429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1965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4264" y="18013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2967A"/>
                </a:solidFill>
                <a:latin typeface="Calibri"/>
              </a:rPr>
              <a:t>Q3 Scenario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322576"/>
            <a:ext cx="449884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587752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374151"/>
                </a:solidFill>
                <a:latin typeface="Calibri Light"/>
              </a:rPr>
              <a:t>Base case — $155.9K:</a:t>
            </a:r>
            <a:r>
              <a:rPr sz="1200" b="0" i="0">
                <a:solidFill>
                  <a:srgbClr val="374151"/>
                </a:solidFill>
                <a:latin typeface="Calibri Light"/>
              </a:rPr>
              <a:t> Assumes North holds above 35% revenue share and Platform QoQ growth stays positive.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374151"/>
                </a:solidFill>
                <a:latin typeface="Calibri Light"/>
              </a:rPr>
              <a:t>Optimistic case — $179.3K (+15%):</a:t>
            </a:r>
            <a:r>
              <a:rPr sz="1200" b="0" i="0">
                <a:solidFill>
                  <a:srgbClr val="374151"/>
                </a:solidFill>
                <a:latin typeface="Calibri Light"/>
              </a:rPr>
              <a:t> Requires Mid-Market and North to maintain Q1 2026 pace through Q3.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374151"/>
                </a:solidFill>
                <a:latin typeface="Calibri Light"/>
              </a:rPr>
              <a:t>Pessimistic case — $124.7K (-20%):</a:t>
            </a:r>
            <a:r>
              <a:rPr sz="1200" b="0" i="0">
                <a:solidFill>
                  <a:srgbClr val="374151"/>
                </a:solidFill>
                <a:latin typeface="Calibri Light"/>
              </a:rPr>
              <a:t> Models reversion to Q4 2025 growth rates — a realistic downside if Platform normalizes.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 i="0">
                <a:solidFill>
                  <a:srgbClr val="374151"/>
                </a:solidFill>
                <a:latin typeface="Calibri Light"/>
              </a:rPr>
              <a:t>The $54K gap between pessimistic and optimistic is the financial stake of the recommended actions.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i="0">
                <a:solidFill>
                  <a:srgbClr val="374151"/>
                </a:solidFill>
                <a:latin typeface="Calibri Light"/>
              </a:rPr>
              <a:t>Early warning triggers: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 i="0">
                <a:solidFill>
                  <a:srgbClr val="374151"/>
                </a:solidFill>
                <a:latin typeface="Calibri Light"/>
              </a:rPr>
              <a:t>Monthly miss &gt; 30% vs forecast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 i="0">
                <a:solidFill>
                  <a:srgbClr val="374151"/>
                </a:solidFill>
                <a:latin typeface="Calibri Light"/>
              </a:rPr>
              <a:t>North share below 25%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200" b="0" i="0">
                <a:solidFill>
                  <a:srgbClr val="374151"/>
                </a:solidFill>
                <a:latin typeface="Calibri Light"/>
              </a:rPr>
              <a:t>Platform QoQ turning negative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1448</Words>
  <Application>Microsoft Office PowerPoint</Application>
  <PresentationFormat>Custom</PresentationFormat>
  <Paragraphs>222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Inter</vt:lpstr>
      <vt:lpstr>League Spartan</vt:lpstr>
      <vt:lpstr>League Spartan Light</vt:lpstr>
      <vt:lpstr>League Spartan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VInh Nguyen</cp:lastModifiedBy>
  <cp:revision>3</cp:revision>
  <dcterms:created xsi:type="dcterms:W3CDTF">2013-01-27T09:14:16Z</dcterms:created>
  <dcterms:modified xsi:type="dcterms:W3CDTF">2026-05-19T08:33:32Z</dcterms:modified>
  <cp:category/>
</cp:coreProperties>
</file>